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18930"/>
          </a:solidFill>
          <a:ln>
            <a:solidFill>
              <a:srgbClr val="F189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001000" y="0"/>
            <a:ext cx="4190695" cy="6858000"/>
          </a:xfrm>
          <a:prstGeom prst="rect">
            <a:avLst/>
          </a:prstGeom>
          <a:solidFill>
            <a:srgbClr val="1C9796"/>
          </a:solidFill>
          <a:ln>
            <a:solidFill>
              <a:srgbClr val="1C97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549640" y="822960"/>
            <a:ext cx="2468880" cy="5212080"/>
          </a:xfrm>
          <a:prstGeom prst="roundRect">
            <a:avLst>
              <a:gd name="adj" fmla="val 8000"/>
            </a:avLst>
          </a:prstGeom>
          <a:solidFill>
            <a:srgbClr val="E0F3F1"/>
          </a:solidFill>
          <a:ln>
            <a:solidFill>
              <a:srgbClr val="E0F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887968" y="1325880"/>
            <a:ext cx="1783080" cy="475488"/>
          </a:xfrm>
          <a:prstGeom prst="roundRect">
            <a:avLst>
              <a:gd name="adj" fmla="val 8000"/>
            </a:avLst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87968" y="1325880"/>
            <a:ext cx="1783080" cy="475488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87968" y="2057400"/>
            <a:ext cx="1417320" cy="475488"/>
          </a:xfrm>
          <a:prstGeom prst="roundRect">
            <a:avLst>
              <a:gd name="adj" fmla="val 8000"/>
            </a:avLst>
          </a:prstGeom>
          <a:solidFill>
            <a:srgbClr val="F18930"/>
          </a:solidFill>
          <a:ln>
            <a:solidFill>
              <a:srgbClr val="F189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87968" y="2057400"/>
            <a:ext cx="1417320" cy="475488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FACT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87968" y="2788920"/>
            <a:ext cx="1965960" cy="475488"/>
          </a:xfrm>
          <a:prstGeom prst="roundRect">
            <a:avLst>
              <a:gd name="adj" fmla="val 8000"/>
            </a:avLst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87968" y="2788920"/>
            <a:ext cx="1965960" cy="475488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DIMENSION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87968" y="3520440"/>
            <a:ext cx="1143000" cy="475488"/>
          </a:xfrm>
          <a:prstGeom prst="roundRect">
            <a:avLst>
              <a:gd name="adj" fmla="val 8000"/>
            </a:avLst>
          </a:prstGeom>
          <a:solidFill>
            <a:srgbClr val="F18930"/>
          </a:solidFill>
          <a:ln>
            <a:solidFill>
              <a:srgbClr val="F189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87968" y="3520440"/>
            <a:ext cx="1143000" cy="475488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TEST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87968" y="4251960"/>
            <a:ext cx="1645920" cy="475488"/>
          </a:xfrm>
          <a:prstGeom prst="roundRect">
            <a:avLst>
              <a:gd name="adj" fmla="val 8000"/>
            </a:avLst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87968" y="4251960"/>
            <a:ext cx="1645920" cy="475488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960120"/>
            <a:ext cx="6217920" cy="274320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 algn="l"/>
            <a:r>
              <a:rPr sz="1200" b="1">
                <a:solidFill>
                  <a:srgbClr val="F18930"/>
                </a:solidFill>
                <a:latin typeface="Aptos"/>
              </a:rPr>
              <a:t>THIRU DBT PROJECT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1481328"/>
            <a:ext cx="6583680" cy="1325880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Retail analytics
from source to insight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3246120"/>
            <a:ext cx="6035040" cy="502920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 algn="l"/>
            <a:r>
              <a:rPr sz="1700" b="0">
                <a:solidFill>
                  <a:srgbClr val="D0DDE5"/>
                </a:solidFill>
                <a:latin typeface="Aptos"/>
              </a:rPr>
              <a:t>A sample project presentation for the dbt transformation layer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" y="4983480"/>
            <a:ext cx="2011680" cy="45720"/>
          </a:xfrm>
          <a:prstGeom prst="rect">
            <a:avLst/>
          </a:prstGeom>
          <a:solidFill>
            <a:srgbClr val="F18930"/>
          </a:solidFill>
          <a:ln>
            <a:solidFill>
              <a:srgbClr val="F189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5212080"/>
            <a:ext cx="6217920" cy="274320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 algn="l"/>
            <a:r>
              <a:rPr sz="1200" b="0">
                <a:solidFill>
                  <a:srgbClr val="D0DDE5"/>
                </a:solidFill>
                <a:latin typeface="Aptos"/>
              </a:rPr>
              <a:t>dbt | Databricks | Medallion-style modeling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6016752"/>
            <a:ext cx="914400" cy="228600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 algn="l"/>
            <a:r>
              <a:rPr sz="1000" b="1">
                <a:solidFill>
                  <a:srgbClr val="D0DDE5"/>
                </a:solidFill>
                <a:latin typeface="Aptos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solidFill>
              <a:srgbClr val="F7F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9796"/>
          </a:solidFill>
          <a:ln>
            <a:solidFill>
              <a:srgbClr val="1C97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3200400" cy="228600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 algn="l"/>
            <a:r>
              <a:rPr sz="1000" b="1">
                <a:solidFill>
                  <a:srgbClr val="1C9796"/>
                </a:solidFill>
                <a:latin typeface="Aptos"/>
              </a:rPr>
              <a:t>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9875520" cy="502920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 algn="l"/>
            <a:r>
              <a:rPr sz="2700" b="1">
                <a:solidFill>
                  <a:srgbClr val="0D1B2A"/>
                </a:solidFill>
                <a:latin typeface="Aptos"/>
              </a:rPr>
              <a:t>A small, clear transformation 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438912"/>
            <a:ext cx="594360" cy="320040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 algn="r"/>
            <a:r>
              <a:rPr sz="1200" b="1">
                <a:solidFill>
                  <a:srgbClr val="F18930"/>
                </a:solidFill>
                <a:latin typeface="Aptos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508760"/>
            <a:ext cx="10515600" cy="384048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 algn="l"/>
            <a:r>
              <a:rPr sz="1800" b="0">
                <a:solidFill>
                  <a:srgbClr val="1F2D3D"/>
                </a:solidFill>
                <a:latin typeface="Aptos"/>
              </a:rPr>
              <a:t>The project registers six retail source tables and exposes them as bronze views for downstream analytics.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240280"/>
            <a:ext cx="233172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3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441448"/>
            <a:ext cx="731520" cy="457200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 algn="l"/>
            <a:r>
              <a:rPr sz="3000" b="1">
                <a:solidFill>
                  <a:srgbClr val="1C9796"/>
                </a:solidFill>
                <a:latin typeface="Aptos"/>
              </a:rPr>
              <a:t>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2980944"/>
            <a:ext cx="1920240" cy="274320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 algn="l"/>
            <a:r>
              <a:rPr sz="1200" b="1">
                <a:solidFill>
                  <a:srgbClr val="6F7E8D"/>
                </a:solidFill>
                <a:latin typeface="Aptos"/>
              </a:rPr>
              <a:t>source tables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10712" y="2240280"/>
            <a:ext cx="233172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3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75304" y="2441448"/>
            <a:ext cx="731520" cy="457200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 algn="l"/>
            <a:r>
              <a:rPr sz="3000" b="1">
                <a:solidFill>
                  <a:srgbClr val="F18930"/>
                </a:solidFill>
                <a:latin typeface="Aptos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75304" y="2980944"/>
            <a:ext cx="1920240" cy="274320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 algn="l"/>
            <a:r>
              <a:rPr sz="1200" b="1">
                <a:solidFill>
                  <a:srgbClr val="6F7E8D"/>
                </a:solidFill>
                <a:latin typeface="Aptos"/>
              </a:rPr>
              <a:t>bronze models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1" y="2240280"/>
            <a:ext cx="233172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3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64223" y="2441448"/>
            <a:ext cx="731520" cy="457200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 algn="l"/>
            <a:r>
              <a:rPr sz="3000" b="1">
                <a:solidFill>
                  <a:srgbClr val="1C9796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4223" y="2980944"/>
            <a:ext cx="1920240" cy="274320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 algn="l"/>
            <a:r>
              <a:rPr sz="1200" b="1">
                <a:solidFill>
                  <a:srgbClr val="6F7E8D"/>
                </a:solidFill>
                <a:latin typeface="Aptos"/>
              </a:rPr>
              <a:t>documented model configs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88551" y="2240280"/>
            <a:ext cx="233172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3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53143" y="2441448"/>
            <a:ext cx="731520" cy="457200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 algn="l"/>
            <a:r>
              <a:rPr sz="3000" b="1">
                <a:solidFill>
                  <a:srgbClr val="F18930"/>
                </a:solidFill>
                <a:latin typeface="Aptos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53143" y="2980944"/>
            <a:ext cx="1920240" cy="274320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 algn="l"/>
            <a:r>
              <a:rPr sz="1200" b="1">
                <a:solidFill>
                  <a:srgbClr val="6F7E8D"/>
                </a:solidFill>
                <a:latin typeface="Aptos"/>
              </a:rPr>
              <a:t>repeatable dbt command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4069080"/>
            <a:ext cx="5285232" cy="1600200"/>
          </a:xfrm>
          <a:prstGeom prst="roundRect">
            <a:avLst>
              <a:gd name="adj" fmla="val 8000"/>
            </a:avLst>
          </a:prstGeom>
          <a:solidFill>
            <a:srgbClr val="E0F3F1"/>
          </a:solidFill>
          <a:ln>
            <a:solidFill>
              <a:srgbClr val="E0F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315968"/>
            <a:ext cx="1371600" cy="256032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 algn="l"/>
            <a:r>
              <a:rPr sz="1300" b="1">
                <a:solidFill>
                  <a:srgbClr val="1C9796"/>
                </a:solidFill>
                <a:latin typeface="Aptos"/>
              </a:rPr>
              <a:t>Purpose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645152"/>
            <a:ext cx="4617720" cy="658368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 algn="l"/>
            <a:r>
              <a:rPr sz="1600" b="0">
                <a:solidFill>
                  <a:srgbClr val="1F2D3D"/>
                </a:solidFill>
                <a:latin typeface="Aptos"/>
              </a:rPr>
              <a:t>Create a governed, query-ready layer that keeps source references consistent and makes future silver and gold models easier to build.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4069080"/>
            <a:ext cx="5340096" cy="1600200"/>
          </a:xfrm>
          <a:prstGeom prst="roundRect">
            <a:avLst>
              <a:gd name="adj" fmla="val 8000"/>
            </a:avLst>
          </a:prstGeom>
          <a:solidFill>
            <a:srgbClr val="FDEDDB"/>
          </a:solidFill>
          <a:ln>
            <a:solidFill>
              <a:srgbClr val="FDED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4315968"/>
            <a:ext cx="1828800" cy="256032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 algn="l"/>
            <a:r>
              <a:rPr sz="1300" b="1">
                <a:solidFill>
                  <a:srgbClr val="F18930"/>
                </a:solidFill>
                <a:latin typeface="Aptos"/>
              </a:rPr>
              <a:t>Current boundary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645152"/>
            <a:ext cx="4617720" cy="658368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 algn="l"/>
            <a:r>
              <a:rPr sz="1600" b="0">
                <a:solidFill>
                  <a:srgbClr val="1F2D3D"/>
                </a:solidFill>
                <a:latin typeface="Aptos"/>
              </a:rPr>
              <a:t>The visible implementation is a bronze pass-through layer. Business metrics and dimensional enrichment belong in later layers.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" y="6510528"/>
            <a:ext cx="5943600" cy="164592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 algn="l"/>
            <a:r>
              <a:rPr sz="800" b="0">
                <a:solidFill>
                  <a:srgbClr val="6F7E8D"/>
                </a:solidFill>
                <a:latin typeface="Aptos"/>
              </a:rPr>
              <a:t>Thiru dbt project | sample presentation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solidFill>
              <a:srgbClr val="F7F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9796"/>
          </a:solidFill>
          <a:ln>
            <a:solidFill>
              <a:srgbClr val="1C97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3200400" cy="228600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 algn="l"/>
            <a:r>
              <a:rPr sz="1000" b="1">
                <a:solidFill>
                  <a:srgbClr val="1C9796"/>
                </a:solidFill>
                <a:latin typeface="Aptos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9875520" cy="502920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 algn="l"/>
            <a:r>
              <a:rPr sz="2700" b="1">
                <a:solidFill>
                  <a:srgbClr val="0D1B2A"/>
                </a:solidFill>
                <a:latin typeface="Aptos"/>
              </a:rPr>
              <a:t>From registered source tables to bronze views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438912"/>
            <a:ext cx="594360" cy="320040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 algn="r"/>
            <a:r>
              <a:rPr sz="1200" b="1">
                <a:solidFill>
                  <a:srgbClr val="F18930"/>
                </a:solidFill>
                <a:latin typeface="Aptos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389888"/>
            <a:ext cx="10789920" cy="347472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 algn="l"/>
            <a:r>
              <a:rPr sz="1600" b="0">
                <a:solidFill>
                  <a:srgbClr val="1F2D3D"/>
                </a:solidFill>
                <a:latin typeface="Aptos"/>
              </a:rPr>
              <a:t>The current design keeps the first transformation step intentionally thin: declare sources, then standardize access through dbt models.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176272"/>
            <a:ext cx="2834640" cy="2926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3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423160"/>
            <a:ext cx="1097280" cy="228600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 algn="l"/>
            <a:r>
              <a:rPr sz="1200" b="1">
                <a:solidFill>
                  <a:srgbClr val="1C9796"/>
                </a:solidFill>
                <a:latin typeface="Aptos"/>
              </a:rPr>
              <a:t>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761488"/>
            <a:ext cx="2057400" cy="292608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 algn="l"/>
            <a:r>
              <a:rPr sz="1700" b="1">
                <a:solidFill>
                  <a:srgbClr val="0D1B2A"/>
                </a:solidFill>
                <a:latin typeface="Aptos"/>
              </a:rPr>
              <a:t>dbt_project_dev.source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41832" y="3364991"/>
            <a:ext cx="73152" cy="73152"/>
          </a:xfrm>
          <a:prstGeom prst="rect">
            <a:avLst/>
          </a:prstGeom>
          <a:solidFill>
            <a:srgbClr val="1C9796"/>
          </a:solidFill>
          <a:ln>
            <a:solidFill>
              <a:srgbClr val="1C97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246120"/>
            <a:ext cx="1901951" cy="320040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Aptos"/>
              </a:rPr>
              <a:t>fact_sales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41832" y="3648456"/>
            <a:ext cx="73152" cy="73152"/>
          </a:xfrm>
          <a:prstGeom prst="rect">
            <a:avLst/>
          </a:prstGeom>
          <a:solidFill>
            <a:srgbClr val="1C9796"/>
          </a:solidFill>
          <a:ln>
            <a:solidFill>
              <a:srgbClr val="1C97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3529584"/>
            <a:ext cx="1901951" cy="320040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Aptos"/>
              </a:rPr>
              <a:t>fact_returns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41832" y="3931920"/>
            <a:ext cx="73152" cy="73152"/>
          </a:xfrm>
          <a:prstGeom prst="rect">
            <a:avLst/>
          </a:prstGeom>
          <a:solidFill>
            <a:srgbClr val="1C9796"/>
          </a:solidFill>
          <a:ln>
            <a:solidFill>
              <a:srgbClr val="1C97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3813048"/>
            <a:ext cx="1901951" cy="320040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Aptos"/>
              </a:rPr>
              <a:t>dim_date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41832" y="4215383"/>
            <a:ext cx="73152" cy="73152"/>
          </a:xfrm>
          <a:prstGeom prst="rect">
            <a:avLst/>
          </a:prstGeom>
          <a:solidFill>
            <a:srgbClr val="1C9796"/>
          </a:solidFill>
          <a:ln>
            <a:solidFill>
              <a:srgbClr val="1C97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4096511"/>
            <a:ext cx="1901951" cy="320040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Aptos"/>
              </a:rPr>
              <a:t>dim_store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41832" y="4498848"/>
            <a:ext cx="73152" cy="73152"/>
          </a:xfrm>
          <a:prstGeom prst="rect">
            <a:avLst/>
          </a:prstGeom>
          <a:solidFill>
            <a:srgbClr val="1C9796"/>
          </a:solidFill>
          <a:ln>
            <a:solidFill>
              <a:srgbClr val="1C97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4379976"/>
            <a:ext cx="1901951" cy="320040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Aptos"/>
              </a:rPr>
              <a:t>dim_product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41832" y="4782312"/>
            <a:ext cx="73152" cy="73152"/>
          </a:xfrm>
          <a:prstGeom prst="rect">
            <a:avLst/>
          </a:prstGeom>
          <a:solidFill>
            <a:srgbClr val="1C9796"/>
          </a:solidFill>
          <a:ln>
            <a:solidFill>
              <a:srgbClr val="1C97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3000" y="4663440"/>
            <a:ext cx="1901951" cy="320040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Aptos"/>
              </a:rPr>
              <a:t>dim_customer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63440" y="2176272"/>
            <a:ext cx="2834640" cy="2926080"/>
          </a:xfrm>
          <a:prstGeom prst="roundRect">
            <a:avLst>
              <a:gd name="adj" fmla="val 8000"/>
            </a:avLst>
          </a:prstGeom>
          <a:solidFill>
            <a:srgbClr val="E0F3F1"/>
          </a:solidFill>
          <a:ln>
            <a:solidFill>
              <a:srgbClr val="E0F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19472" y="2423160"/>
            <a:ext cx="1097280" cy="228600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 algn="l"/>
            <a:r>
              <a:rPr sz="1200" b="1">
                <a:solidFill>
                  <a:srgbClr val="1C9796"/>
                </a:solidFill>
                <a:latin typeface="Aptos"/>
              </a:rPr>
              <a:t>BRONZE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19472" y="2761488"/>
            <a:ext cx="2057400" cy="292608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 algn="l"/>
            <a:r>
              <a:rPr sz="1700" b="1">
                <a:solidFill>
                  <a:srgbClr val="0D1B2A"/>
                </a:solidFill>
                <a:latin typeface="Aptos"/>
              </a:rPr>
              <a:t>dbt models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919472" y="3364991"/>
            <a:ext cx="73152" cy="73152"/>
          </a:xfrm>
          <a:prstGeom prst="rect">
            <a:avLst/>
          </a:prstGeom>
          <a:solidFill>
            <a:srgbClr val="F18930"/>
          </a:solidFill>
          <a:ln>
            <a:solidFill>
              <a:srgbClr val="F189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20640" y="3246120"/>
            <a:ext cx="2130551" cy="320040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Aptos"/>
              </a:rPr>
              <a:t>bronze_fact_sales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19472" y="3648456"/>
            <a:ext cx="73152" cy="73152"/>
          </a:xfrm>
          <a:prstGeom prst="rect">
            <a:avLst/>
          </a:prstGeom>
          <a:solidFill>
            <a:srgbClr val="F18930"/>
          </a:solidFill>
          <a:ln>
            <a:solidFill>
              <a:srgbClr val="F189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20640" y="3529584"/>
            <a:ext cx="2130551" cy="320040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Aptos"/>
              </a:rPr>
              <a:t>bronze_fact_returns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919472" y="3931920"/>
            <a:ext cx="73152" cy="73152"/>
          </a:xfrm>
          <a:prstGeom prst="rect">
            <a:avLst/>
          </a:prstGeom>
          <a:solidFill>
            <a:srgbClr val="F18930"/>
          </a:solidFill>
          <a:ln>
            <a:solidFill>
              <a:srgbClr val="F189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20640" y="3813048"/>
            <a:ext cx="2130551" cy="320040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Aptos"/>
              </a:rPr>
              <a:t>bronze_dim_date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919472" y="4215383"/>
            <a:ext cx="73152" cy="73152"/>
          </a:xfrm>
          <a:prstGeom prst="rect">
            <a:avLst/>
          </a:prstGeom>
          <a:solidFill>
            <a:srgbClr val="F18930"/>
          </a:solidFill>
          <a:ln>
            <a:solidFill>
              <a:srgbClr val="F189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20640" y="4096511"/>
            <a:ext cx="2130551" cy="320040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Aptos"/>
              </a:rPr>
              <a:t>bronze_dim_store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19472" y="4498848"/>
            <a:ext cx="73152" cy="73152"/>
          </a:xfrm>
          <a:prstGeom prst="rect">
            <a:avLst/>
          </a:prstGeom>
          <a:solidFill>
            <a:srgbClr val="F18930"/>
          </a:solidFill>
          <a:ln>
            <a:solidFill>
              <a:srgbClr val="F189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120640" y="4379976"/>
            <a:ext cx="2130551" cy="320040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Aptos"/>
              </a:rPr>
              <a:t>bronze_dim_product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919472" y="4782312"/>
            <a:ext cx="73152" cy="73152"/>
          </a:xfrm>
          <a:prstGeom prst="rect">
            <a:avLst/>
          </a:prstGeom>
          <a:solidFill>
            <a:srgbClr val="F18930"/>
          </a:solidFill>
          <a:ln>
            <a:solidFill>
              <a:srgbClr val="F189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20640" y="4663440"/>
            <a:ext cx="2130551" cy="320040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Aptos"/>
              </a:rPr>
              <a:t>bronze_dim_customer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641080" y="2176272"/>
            <a:ext cx="2834640" cy="2926080"/>
          </a:xfrm>
          <a:prstGeom prst="roundRect">
            <a:avLst>
              <a:gd name="adj" fmla="val 8000"/>
            </a:avLst>
          </a:prstGeom>
          <a:solidFill>
            <a:srgbClr val="FDEDDB"/>
          </a:solidFill>
          <a:ln>
            <a:solidFill>
              <a:srgbClr val="FDED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897112" y="2423160"/>
            <a:ext cx="1097280" cy="228600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 algn="l"/>
            <a:r>
              <a:rPr sz="1200" b="1">
                <a:solidFill>
                  <a:srgbClr val="F18930"/>
                </a:solidFill>
                <a:latin typeface="Aptos"/>
              </a:rPr>
              <a:t>NEXT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97112" y="2761488"/>
            <a:ext cx="2103120" cy="292608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 algn="l"/>
            <a:r>
              <a:rPr sz="1700" b="1">
                <a:solidFill>
                  <a:srgbClr val="0D1B2A"/>
                </a:solidFill>
                <a:latin typeface="Aptos"/>
              </a:rPr>
              <a:t>silver and gold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897112" y="3429000"/>
            <a:ext cx="73152" cy="73152"/>
          </a:xfrm>
          <a:prstGeom prst="rect">
            <a:avLst/>
          </a:prstGeom>
          <a:solidFill>
            <a:srgbClr val="F18930"/>
          </a:solidFill>
          <a:ln>
            <a:solidFill>
              <a:srgbClr val="F189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98280" y="3310128"/>
            <a:ext cx="1993391" cy="320040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 algn="l"/>
            <a:r>
              <a:rPr sz="1300" b="0">
                <a:solidFill>
                  <a:srgbClr val="1F2D3D"/>
                </a:solidFill>
                <a:latin typeface="Aptos"/>
              </a:rPr>
              <a:t>cleaned business logic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897112" y="3794760"/>
            <a:ext cx="73152" cy="73152"/>
          </a:xfrm>
          <a:prstGeom prst="rect">
            <a:avLst/>
          </a:prstGeom>
          <a:solidFill>
            <a:srgbClr val="F18930"/>
          </a:solidFill>
          <a:ln>
            <a:solidFill>
              <a:srgbClr val="F189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98280" y="3675888"/>
            <a:ext cx="1993391" cy="320040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 algn="l"/>
            <a:r>
              <a:rPr sz="1300" b="0">
                <a:solidFill>
                  <a:srgbClr val="1F2D3D"/>
                </a:solidFill>
                <a:latin typeface="Aptos"/>
              </a:rPr>
              <a:t>conformed dimensions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897112" y="4160520"/>
            <a:ext cx="73152" cy="73152"/>
          </a:xfrm>
          <a:prstGeom prst="rect">
            <a:avLst/>
          </a:prstGeom>
          <a:solidFill>
            <a:srgbClr val="F18930"/>
          </a:solidFill>
          <a:ln>
            <a:solidFill>
              <a:srgbClr val="F189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098280" y="4041648"/>
            <a:ext cx="1993391" cy="320040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 algn="l"/>
            <a:r>
              <a:rPr sz="1300" b="0">
                <a:solidFill>
                  <a:srgbClr val="1F2D3D"/>
                </a:solidFill>
                <a:latin typeface="Aptos"/>
              </a:rPr>
              <a:t>sales and returns KPIs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897112" y="4526280"/>
            <a:ext cx="73152" cy="73152"/>
          </a:xfrm>
          <a:prstGeom prst="rect">
            <a:avLst/>
          </a:prstGeom>
          <a:solidFill>
            <a:srgbClr val="F18930"/>
          </a:solidFill>
          <a:ln>
            <a:solidFill>
              <a:srgbClr val="F189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098280" y="4407408"/>
            <a:ext cx="1993391" cy="320040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 algn="l"/>
            <a:r>
              <a:rPr sz="1300" b="0">
                <a:solidFill>
                  <a:srgbClr val="1F2D3D"/>
                </a:solidFill>
                <a:latin typeface="Aptos"/>
              </a:rPr>
              <a:t>dashboard-ready marts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3566160" y="3611880"/>
            <a:ext cx="1005840" cy="0"/>
          </a:xfrm>
          <a:prstGeom prst="line">
            <a:avLst/>
          </a:prstGeom>
          <a:ln w="25400">
            <a:solidFill>
              <a:srgbClr val="1C97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7543800" y="3611880"/>
            <a:ext cx="1005840" cy="0"/>
          </a:xfrm>
          <a:prstGeom prst="line">
            <a:avLst/>
          </a:prstGeom>
          <a:ln w="25400">
            <a:solidFill>
              <a:srgbClr val="F189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621792" y="6510528"/>
            <a:ext cx="5943600" cy="164592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 algn="l"/>
            <a:r>
              <a:rPr sz="800" b="0">
                <a:solidFill>
                  <a:srgbClr val="6F7E8D"/>
                </a:solidFill>
                <a:latin typeface="Aptos"/>
              </a:rPr>
              <a:t>Thiru dbt project | sample presentation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solidFill>
              <a:srgbClr val="F7F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9796"/>
          </a:solidFill>
          <a:ln>
            <a:solidFill>
              <a:srgbClr val="1C97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3200400" cy="228600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 algn="l"/>
            <a:r>
              <a:rPr sz="1000" b="1">
                <a:solidFill>
                  <a:srgbClr val="1C9796"/>
                </a:solidFill>
                <a:latin typeface="Aptos"/>
              </a:rPr>
              <a:t>MODEL INVENTORY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9875520" cy="502920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 algn="l"/>
            <a:r>
              <a:rPr sz="2700" b="1">
                <a:solidFill>
                  <a:srgbClr val="0D1B2A"/>
                </a:solidFill>
                <a:latin typeface="Aptos"/>
              </a:rPr>
              <a:t>Six focused models with a predictable naming pattern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438912"/>
            <a:ext cx="594360" cy="320040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 algn="r"/>
            <a:r>
              <a:rPr sz="1200" b="1">
                <a:solidFill>
                  <a:srgbClr val="F18930"/>
                </a:solidFill>
                <a:latin typeface="Aptos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371600"/>
            <a:ext cx="10698480" cy="347472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 algn="l"/>
            <a:r>
              <a:rPr sz="1600" b="0">
                <a:solidFill>
                  <a:srgbClr val="1F2D3D"/>
                </a:solidFill>
                <a:latin typeface="Aptos"/>
              </a:rPr>
              <a:t>Each bronze model uses the source() macro to make lineage explicit and keep environment-specific details in project configuration.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011680"/>
            <a:ext cx="2743200" cy="228600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 algn="l"/>
            <a:r>
              <a:rPr sz="1000" b="1">
                <a:solidFill>
                  <a:srgbClr val="6F7E8D"/>
                </a:solidFill>
                <a:latin typeface="Aptos"/>
              </a:rPr>
              <a:t>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83480" y="2011680"/>
            <a:ext cx="914400" cy="228600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 algn="l"/>
            <a:r>
              <a:rPr sz="1000" b="1">
                <a:solidFill>
                  <a:srgbClr val="6F7E8D"/>
                </a:solidFill>
                <a:latin typeface="Aptos"/>
              </a:rPr>
              <a:t>TYPE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2103120" cy="228600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 algn="l"/>
            <a:r>
              <a:rPr sz="1000" b="1">
                <a:solidFill>
                  <a:srgbClr val="6F7E8D"/>
                </a:solidFill>
                <a:latin typeface="Aptos"/>
              </a:rPr>
              <a:t>SOURCE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89720" y="2011680"/>
            <a:ext cx="2103120" cy="228600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 algn="l"/>
            <a:r>
              <a:rPr sz="1000" b="1">
                <a:solidFill>
                  <a:srgbClr val="6F7E8D"/>
                </a:solidFill>
                <a:latin typeface="Aptos"/>
              </a:rPr>
              <a:t>ROLE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395728"/>
            <a:ext cx="10835640" cy="4206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395728"/>
            <a:ext cx="3886200" cy="420624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 algn="l"/>
            <a:r>
              <a:rPr sz="1300" b="1">
                <a:solidFill>
                  <a:srgbClr val="0D1B2A"/>
                </a:solidFill>
                <a:latin typeface="Aptos"/>
              </a:rPr>
              <a:t>bronze_fact_sales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83480" y="2395728"/>
            <a:ext cx="914400" cy="420624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 algn="l"/>
            <a:r>
              <a:rPr sz="1200" b="1">
                <a:solidFill>
                  <a:srgbClr val="F18930"/>
                </a:solidFill>
                <a:latin typeface="Aptos"/>
              </a:rPr>
              <a:t>Fact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395728"/>
            <a:ext cx="2148840" cy="420624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Aptos"/>
              </a:rPr>
              <a:t>fact_sales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9720" y="2395728"/>
            <a:ext cx="2011680" cy="420624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 algn="l"/>
            <a:r>
              <a:rPr sz="1200" b="0">
                <a:solidFill>
                  <a:srgbClr val="6F7E8D"/>
                </a:solidFill>
                <a:latin typeface="Aptos"/>
              </a:rPr>
              <a:t>sales activity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2926080"/>
            <a:ext cx="10835640" cy="420624"/>
          </a:xfrm>
          <a:prstGeom prst="roundRect">
            <a:avLst>
              <a:gd name="adj" fmla="val 8000"/>
            </a:avLst>
          </a:prstGeom>
          <a:solidFill>
            <a:srgbClr val="EFF3F3"/>
          </a:solidFill>
          <a:ln>
            <a:solidFill>
              <a:srgbClr val="EFF3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2926080"/>
            <a:ext cx="3886200" cy="420624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 algn="l"/>
            <a:r>
              <a:rPr sz="1300" b="1">
                <a:solidFill>
                  <a:srgbClr val="0D1B2A"/>
                </a:solidFill>
                <a:latin typeface="Aptos"/>
              </a:rPr>
              <a:t>bronze_fact_returns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83480" y="2926080"/>
            <a:ext cx="914400" cy="420624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 algn="l"/>
            <a:r>
              <a:rPr sz="1200" b="1">
                <a:solidFill>
                  <a:srgbClr val="F18930"/>
                </a:solidFill>
                <a:latin typeface="Aptos"/>
              </a:rPr>
              <a:t>Fact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926080"/>
            <a:ext cx="2148840" cy="420624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Aptos"/>
              </a:rPr>
              <a:t>fact_returns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20" y="2926080"/>
            <a:ext cx="2011680" cy="420624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 algn="l"/>
            <a:r>
              <a:rPr sz="1200" b="0">
                <a:solidFill>
                  <a:srgbClr val="6F7E8D"/>
                </a:solidFill>
                <a:latin typeface="Aptos"/>
              </a:rPr>
              <a:t>return activity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3456432"/>
            <a:ext cx="10835640" cy="4206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3456432"/>
            <a:ext cx="3886200" cy="420624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 algn="l"/>
            <a:r>
              <a:rPr sz="1300" b="1">
                <a:solidFill>
                  <a:srgbClr val="0D1B2A"/>
                </a:solidFill>
                <a:latin typeface="Aptos"/>
              </a:rPr>
              <a:t>bronze_dim_customer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83480" y="3456432"/>
            <a:ext cx="914400" cy="420624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 algn="l"/>
            <a:r>
              <a:rPr sz="1200" b="1">
                <a:solidFill>
                  <a:srgbClr val="1C9796"/>
                </a:solidFill>
                <a:latin typeface="Aptos"/>
              </a:rPr>
              <a:t>Dim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456432"/>
            <a:ext cx="2148840" cy="420624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Aptos"/>
              </a:rPr>
              <a:t>dim_customer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20" y="3456432"/>
            <a:ext cx="2011680" cy="420624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 algn="l"/>
            <a:r>
              <a:rPr sz="1200" b="0">
                <a:solidFill>
                  <a:srgbClr val="6F7E8D"/>
                </a:solidFill>
                <a:latin typeface="Aptos"/>
              </a:rPr>
              <a:t>customer context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3986783"/>
            <a:ext cx="10835640" cy="420624"/>
          </a:xfrm>
          <a:prstGeom prst="roundRect">
            <a:avLst>
              <a:gd name="adj" fmla="val 8000"/>
            </a:avLst>
          </a:prstGeom>
          <a:solidFill>
            <a:srgbClr val="EFF3F3"/>
          </a:solidFill>
          <a:ln>
            <a:solidFill>
              <a:srgbClr val="EFF3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3986783"/>
            <a:ext cx="3886200" cy="420624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 algn="l"/>
            <a:r>
              <a:rPr sz="1300" b="1">
                <a:solidFill>
                  <a:srgbClr val="0D1B2A"/>
                </a:solidFill>
                <a:latin typeface="Aptos"/>
              </a:rPr>
              <a:t>bronze_dim_date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83480" y="3986783"/>
            <a:ext cx="914400" cy="420624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 algn="l"/>
            <a:r>
              <a:rPr sz="1200" b="1">
                <a:solidFill>
                  <a:srgbClr val="1C9796"/>
                </a:solidFill>
                <a:latin typeface="Aptos"/>
              </a:rPr>
              <a:t>Dim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3986783"/>
            <a:ext cx="2148840" cy="420624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Aptos"/>
              </a:rPr>
              <a:t>dim_date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89720" y="3986783"/>
            <a:ext cx="2011680" cy="420624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 algn="l"/>
            <a:r>
              <a:rPr sz="1200" b="0">
                <a:solidFill>
                  <a:srgbClr val="6F7E8D"/>
                </a:solidFill>
                <a:latin typeface="Aptos"/>
              </a:rPr>
              <a:t>calendar context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4517136"/>
            <a:ext cx="10835640" cy="4206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4517136"/>
            <a:ext cx="3886200" cy="420624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 algn="l"/>
            <a:r>
              <a:rPr sz="1300" b="1">
                <a:solidFill>
                  <a:srgbClr val="0D1B2A"/>
                </a:solidFill>
                <a:latin typeface="Aptos"/>
              </a:rPr>
              <a:t>bronze_dim_product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83480" y="4517136"/>
            <a:ext cx="914400" cy="420624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 algn="l"/>
            <a:r>
              <a:rPr sz="1200" b="1">
                <a:solidFill>
                  <a:srgbClr val="1C9796"/>
                </a:solidFill>
                <a:latin typeface="Aptos"/>
              </a:rPr>
              <a:t>Dim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4517136"/>
            <a:ext cx="2148840" cy="420624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Aptos"/>
              </a:rPr>
              <a:t>dim_product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89720" y="4517136"/>
            <a:ext cx="2011680" cy="420624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 algn="l"/>
            <a:r>
              <a:rPr sz="1200" b="0">
                <a:solidFill>
                  <a:srgbClr val="6F7E8D"/>
                </a:solidFill>
                <a:latin typeface="Aptos"/>
              </a:rPr>
              <a:t>product context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5047488"/>
            <a:ext cx="10835640" cy="420624"/>
          </a:xfrm>
          <a:prstGeom prst="roundRect">
            <a:avLst>
              <a:gd name="adj" fmla="val 8000"/>
            </a:avLst>
          </a:prstGeom>
          <a:solidFill>
            <a:srgbClr val="EFF3F3"/>
          </a:solidFill>
          <a:ln>
            <a:solidFill>
              <a:srgbClr val="EFF3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047488"/>
            <a:ext cx="3886200" cy="420624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 algn="l"/>
            <a:r>
              <a:rPr sz="1300" b="1">
                <a:solidFill>
                  <a:srgbClr val="0D1B2A"/>
                </a:solidFill>
                <a:latin typeface="Aptos"/>
              </a:rPr>
              <a:t>bronze_dim_store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83480" y="5047488"/>
            <a:ext cx="914400" cy="420624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 algn="l"/>
            <a:r>
              <a:rPr sz="1200" b="1">
                <a:solidFill>
                  <a:srgbClr val="1C9796"/>
                </a:solidFill>
                <a:latin typeface="Aptos"/>
              </a:rPr>
              <a:t>Dim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5047488"/>
            <a:ext cx="2148840" cy="420624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Aptos"/>
              </a:rPr>
              <a:t>dim_store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89720" y="5047488"/>
            <a:ext cx="2011680" cy="420624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 algn="l"/>
            <a:r>
              <a:rPr sz="1200" b="0">
                <a:solidFill>
                  <a:srgbClr val="6F7E8D"/>
                </a:solidFill>
                <a:latin typeface="Aptos"/>
              </a:rPr>
              <a:t>store context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" y="6510528"/>
            <a:ext cx="5943600" cy="164592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 algn="l"/>
            <a:r>
              <a:rPr sz="800" b="0">
                <a:solidFill>
                  <a:srgbClr val="6F7E8D"/>
                </a:solidFill>
                <a:latin typeface="Aptos"/>
              </a:rPr>
              <a:t>Thiru dbt project | sample presentation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solidFill>
              <a:srgbClr val="F7F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9796"/>
          </a:solidFill>
          <a:ln>
            <a:solidFill>
              <a:srgbClr val="1C97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3200400" cy="228600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 algn="l"/>
            <a:r>
              <a:rPr sz="1000" b="1">
                <a:solidFill>
                  <a:srgbClr val="1C9796"/>
                </a:solidFill>
                <a:latin typeface="Aptos"/>
              </a:rPr>
              <a:t>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9875520" cy="502920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 algn="l"/>
            <a:r>
              <a:rPr sz="2700" b="1">
                <a:solidFill>
                  <a:srgbClr val="0D1B2A"/>
                </a:solidFill>
                <a:latin typeface="Aptos"/>
              </a:rPr>
              <a:t>The transformation is simple by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438912"/>
            <a:ext cx="594360" cy="320040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 algn="r"/>
            <a:r>
              <a:rPr sz="1200" b="1">
                <a:solidFill>
                  <a:srgbClr val="F18930"/>
                </a:solidFill>
                <a:latin typeface="Aptos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5486400" cy="4297680"/>
          </a:xfrm>
          <a:prstGeom prst="roundRect">
            <a:avLst>
              <a:gd name="adj" fmla="val 8000"/>
            </a:avLst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783080"/>
            <a:ext cx="4206240" cy="274320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 algn="l"/>
            <a:r>
              <a:rPr sz="1500" b="1">
                <a:solidFill>
                  <a:srgbClr val="E0F3F1"/>
                </a:solidFill>
                <a:latin typeface="Aptos"/>
              </a:rPr>
              <a:t>bronze_fact_sales.sql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331720"/>
            <a:ext cx="4709160" cy="292608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Aptos Mono"/>
              </a:rPr>
              <a:t>{{ config(materialized = 'view') 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70632"/>
            <a:ext cx="4709160" cy="292608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Aptos Mono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209544"/>
            <a:ext cx="4709160" cy="292608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Aptos Mono"/>
              </a:rPr>
              <a:t>select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648456"/>
            <a:ext cx="4709160" cy="292608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Aptos Mono"/>
              </a:rPr>
              <a:t>    *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087368"/>
            <a:ext cx="4709160" cy="292608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Aptos Mono"/>
              </a:rPr>
              <a:t>from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526279"/>
            <a:ext cx="4709160" cy="292608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Aptos Mono"/>
              </a:rPr>
              <a:t>    {{ source('source', 'fact_sales') }}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65392" y="1508760"/>
            <a:ext cx="4892040" cy="1143000"/>
          </a:xfrm>
          <a:prstGeom prst="roundRect">
            <a:avLst>
              <a:gd name="adj" fmla="val 8000"/>
            </a:avLst>
          </a:prstGeom>
          <a:solidFill>
            <a:srgbClr val="E0F3F1"/>
          </a:solidFill>
          <a:ln>
            <a:solidFill>
              <a:srgbClr val="E0F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1737360"/>
            <a:ext cx="1280160" cy="246888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 algn="l"/>
            <a:r>
              <a:rPr sz="1300" b="1">
                <a:solidFill>
                  <a:srgbClr val="1C9796"/>
                </a:solidFill>
                <a:latin typeface="Aptos"/>
              </a:rPr>
              <a:t>1. Declare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2057400"/>
            <a:ext cx="4023360" cy="274320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 algn="l"/>
            <a:r>
              <a:rPr sz="1500" b="0">
                <a:solidFill>
                  <a:srgbClr val="1F2D3D"/>
                </a:solidFill>
                <a:latin typeface="Aptos"/>
              </a:rPr>
              <a:t>Register physical tables in source.yml.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65392" y="2926080"/>
            <a:ext cx="4892040" cy="1143000"/>
          </a:xfrm>
          <a:prstGeom prst="roundRect">
            <a:avLst>
              <a:gd name="adj" fmla="val 8000"/>
            </a:avLst>
          </a:prstGeom>
          <a:solidFill>
            <a:srgbClr val="FDEDDB"/>
          </a:solidFill>
          <a:ln>
            <a:solidFill>
              <a:srgbClr val="FDED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0" y="3154680"/>
            <a:ext cx="1463040" cy="246888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 algn="l"/>
            <a:r>
              <a:rPr sz="1300" b="1">
                <a:solidFill>
                  <a:srgbClr val="F18930"/>
                </a:solidFill>
                <a:latin typeface="Aptos"/>
              </a:rPr>
              <a:t>2. Reference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3474720"/>
            <a:ext cx="4023360" cy="274320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 algn="l"/>
            <a:r>
              <a:rPr sz="1500" b="0">
                <a:solidFill>
                  <a:srgbClr val="1F2D3D"/>
                </a:solidFill>
                <a:latin typeface="Aptos"/>
              </a:rPr>
              <a:t>Use source() instead of hard-coded relations.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65392" y="4343400"/>
            <a:ext cx="48920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3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0" y="4572000"/>
            <a:ext cx="1645920" cy="246888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 algn="l"/>
            <a:r>
              <a:rPr sz="1300" b="1">
                <a:solidFill>
                  <a:srgbClr val="1C9796"/>
                </a:solidFill>
                <a:latin typeface="Aptos"/>
              </a:rPr>
              <a:t>3. Materialize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4892040"/>
            <a:ext cx="4023360" cy="274320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 algn="l"/>
            <a:r>
              <a:rPr sz="1500" b="0">
                <a:solidFill>
                  <a:srgbClr val="1F2D3D"/>
                </a:solidFill>
                <a:latin typeface="Aptos"/>
              </a:rPr>
              <a:t>Expose a reusable view for downstream models.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6510528"/>
            <a:ext cx="5943600" cy="164592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 algn="l"/>
            <a:r>
              <a:rPr sz="800" b="0">
                <a:solidFill>
                  <a:srgbClr val="6F7E8D"/>
                </a:solidFill>
                <a:latin typeface="Aptos"/>
              </a:rPr>
              <a:t>Thiru dbt project | sample presentation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solidFill>
              <a:srgbClr val="F7F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9796"/>
          </a:solidFill>
          <a:ln>
            <a:solidFill>
              <a:srgbClr val="1C97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3200400" cy="228600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 algn="l"/>
            <a:r>
              <a:rPr sz="1000" b="1">
                <a:solidFill>
                  <a:srgbClr val="1C9796"/>
                </a:solidFill>
                <a:latin typeface="Aptos"/>
              </a:rPr>
              <a:t>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9875520" cy="502920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 algn="l"/>
            <a:r>
              <a:rPr sz="2700" b="1">
                <a:solidFill>
                  <a:srgbClr val="0D1B2A"/>
                </a:solidFill>
                <a:latin typeface="Aptos"/>
              </a:rPr>
              <a:t>A repeatable run is the first quality gate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438912"/>
            <a:ext cx="594360" cy="320040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 algn="r"/>
            <a:r>
              <a:rPr sz="1200" b="1">
                <a:solidFill>
                  <a:srgbClr val="F18930"/>
                </a:solidFill>
                <a:latin typeface="Aptos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389888"/>
            <a:ext cx="10789920" cy="475488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 algn="l"/>
            <a:r>
              <a:rPr sz="1600" b="0">
                <a:solidFill>
                  <a:srgbClr val="1F2D3D"/>
                </a:solidFill>
                <a:latin typeface="Aptos"/>
              </a:rPr>
              <a:t>The project has already completed a successful dbt run. The next step is to make the quality signal more explicit with tests and documentation.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331720"/>
            <a:ext cx="233172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3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560320"/>
            <a:ext cx="594360" cy="292608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 algn="l"/>
            <a:r>
              <a:rPr sz="1300" b="1">
                <a:solidFill>
                  <a:srgbClr val="F18930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971800"/>
            <a:ext cx="1828800" cy="320040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 algn="l"/>
            <a:r>
              <a:rPr sz="1900" b="1">
                <a:solidFill>
                  <a:srgbClr val="0D1B2A"/>
                </a:solidFill>
                <a:latin typeface="Aptos"/>
              </a:rPr>
              <a:t>Compile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474720"/>
            <a:ext cx="1783080" cy="548640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 algn="l"/>
            <a:r>
              <a:rPr sz="1300" b="0">
                <a:solidFill>
                  <a:srgbClr val="6F7E8D"/>
                </a:solidFill>
                <a:latin typeface="Aptos"/>
              </a:rPr>
              <a:t>Resolve refs, sources, and Jinja.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2331720"/>
            <a:ext cx="233172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3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75887" y="2560320"/>
            <a:ext cx="594360" cy="292608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 algn="l"/>
            <a:r>
              <a:rPr sz="1300" b="1">
                <a:solidFill>
                  <a:srgbClr val="F18930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75887" y="2971800"/>
            <a:ext cx="1828800" cy="320040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 algn="l"/>
            <a:r>
              <a:rPr sz="1900" b="1">
                <a:solidFill>
                  <a:srgbClr val="0D1B2A"/>
                </a:solidFill>
                <a:latin typeface="Aptos"/>
              </a:rPr>
              <a:t>Run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5887" y="3474720"/>
            <a:ext cx="1783080" cy="548640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 algn="l"/>
            <a:r>
              <a:rPr sz="1300" b="0">
                <a:solidFill>
                  <a:srgbClr val="6F7E8D"/>
                </a:solidFill>
                <a:latin typeface="Aptos"/>
              </a:rPr>
              <a:t>Build the bronze relations.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2331720"/>
            <a:ext cx="233172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3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4807" y="2560320"/>
            <a:ext cx="594360" cy="292608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 algn="l"/>
            <a:r>
              <a:rPr sz="1300" b="1">
                <a:solidFill>
                  <a:srgbClr val="F18930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4807" y="2971800"/>
            <a:ext cx="1828800" cy="320040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 algn="l"/>
            <a:r>
              <a:rPr sz="1900" b="1">
                <a:solidFill>
                  <a:srgbClr val="0D1B2A"/>
                </a:solidFill>
                <a:latin typeface="Aptos"/>
              </a:rPr>
              <a:t>Test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4807" y="3474720"/>
            <a:ext cx="1783080" cy="548640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 algn="l"/>
            <a:r>
              <a:rPr sz="1300" b="0">
                <a:solidFill>
                  <a:srgbClr val="6F7E8D"/>
                </a:solidFill>
                <a:latin typeface="Aptos"/>
              </a:rPr>
              <a:t>Check keys, nulls, and relationships.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59" y="2331720"/>
            <a:ext cx="233172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3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53728" y="2560320"/>
            <a:ext cx="594360" cy="292608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 algn="l"/>
            <a:r>
              <a:rPr sz="1300" b="1">
                <a:solidFill>
                  <a:srgbClr val="F18930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53728" y="2971800"/>
            <a:ext cx="1828800" cy="320040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 algn="l"/>
            <a:r>
              <a:rPr sz="1900" b="1">
                <a:solidFill>
                  <a:srgbClr val="0D1B2A"/>
                </a:solidFill>
                <a:latin typeface="Aptos"/>
              </a:rPr>
              <a:t>Document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53728" y="3474720"/>
            <a:ext cx="1783080" cy="548640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 algn="l"/>
            <a:r>
              <a:rPr sz="1300" b="0">
                <a:solidFill>
                  <a:srgbClr val="6F7E8D"/>
                </a:solidFill>
                <a:latin typeface="Aptos"/>
              </a:rPr>
              <a:t>Expose lineage and model intent.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846320"/>
            <a:ext cx="10744200" cy="777240"/>
          </a:xfrm>
          <a:prstGeom prst="roundRect">
            <a:avLst>
              <a:gd name="adj" fmla="val 8000"/>
            </a:avLst>
          </a:prstGeom>
          <a:solidFill>
            <a:srgbClr val="E0F3F1"/>
          </a:solidFill>
          <a:ln>
            <a:solidFill>
              <a:srgbClr val="E0F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074920"/>
            <a:ext cx="1645920" cy="228600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 algn="l"/>
            <a:r>
              <a:rPr sz="1300" b="1">
                <a:solidFill>
                  <a:srgbClr val="1C9796"/>
                </a:solidFill>
                <a:latin typeface="Aptos"/>
              </a:rPr>
              <a:t>Recommended tests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97480" y="5029200"/>
            <a:ext cx="8321040" cy="347472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 algn="l"/>
            <a:r>
              <a:rPr sz="1300" b="0">
                <a:solidFill>
                  <a:srgbClr val="1F2D3D"/>
                </a:solidFill>
                <a:latin typeface="Aptos"/>
              </a:rPr>
              <a:t>not_null and unique on dimension keys | accepted values for return status | relationships from facts to dimensions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" y="6510528"/>
            <a:ext cx="5943600" cy="164592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 algn="l"/>
            <a:r>
              <a:rPr sz="800" b="0">
                <a:solidFill>
                  <a:srgbClr val="6F7E8D"/>
                </a:solidFill>
                <a:latin typeface="Aptos"/>
              </a:rPr>
              <a:t>Thiru dbt project | sample presentation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solidFill>
              <a:srgbClr val="F7F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9796"/>
          </a:solidFill>
          <a:ln>
            <a:solidFill>
              <a:srgbClr val="1C97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3200400" cy="228600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 algn="l"/>
            <a:r>
              <a:rPr sz="1000" b="1">
                <a:solidFill>
                  <a:srgbClr val="1C9796"/>
                </a:solidFill>
                <a:latin typeface="Aptos"/>
              </a:rP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9875520" cy="502920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 algn="l"/>
            <a:r>
              <a:rPr sz="2700" b="1">
                <a:solidFill>
                  <a:srgbClr val="0D1B2A"/>
                </a:solidFill>
                <a:latin typeface="Aptos"/>
              </a:rPr>
              <a:t>Turn a clean bronze layer into useful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438912"/>
            <a:ext cx="594360" cy="320040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 algn="r"/>
            <a:r>
              <a:rPr sz="1200" b="1">
                <a:solidFill>
                  <a:srgbClr val="F18930"/>
                </a:solidFill>
                <a:latin typeface="Aptos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389888"/>
            <a:ext cx="10515600" cy="320040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 algn="l"/>
            <a:r>
              <a:rPr sz="1700" b="0">
                <a:solidFill>
                  <a:srgbClr val="1F2D3D"/>
                </a:solidFill>
                <a:latin typeface="Aptos"/>
              </a:rPr>
              <a:t>A practical path from ingestion-ready views to trusted retail metrics: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057400"/>
            <a:ext cx="640080" cy="320040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 algn="l"/>
            <a:r>
              <a:rPr sz="1400" b="1">
                <a:solidFill>
                  <a:srgbClr val="F18930"/>
                </a:solidFill>
                <a:latin typeface="Aptos"/>
              </a:rP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08760" y="2029968"/>
            <a:ext cx="987552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3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83080" y="2075688"/>
            <a:ext cx="2377440" cy="256032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 algn="l"/>
            <a:r>
              <a:rPr sz="1500" b="1">
                <a:solidFill>
                  <a:srgbClr val="0D1B2A"/>
                </a:solidFill>
                <a:latin typeface="Aptos"/>
              </a:rPr>
              <a:t>Complete model properties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69080" y="2075688"/>
            <a:ext cx="6812280" cy="320040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 algn="l"/>
            <a:r>
              <a:rPr sz="1300" b="0">
                <a:solidFill>
                  <a:srgbClr val="6F7E8D"/>
                </a:solidFill>
                <a:latin typeface="Aptos"/>
              </a:rPr>
              <a:t>Document all six bronze models, columns, owners, and descriptions.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926080"/>
            <a:ext cx="640080" cy="320040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 algn="l"/>
            <a:r>
              <a:rPr sz="1400" b="1">
                <a:solidFill>
                  <a:srgbClr val="F18930"/>
                </a:solidFill>
                <a:latin typeface="Aptos"/>
              </a:rPr>
              <a:t>02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508760" y="2898648"/>
            <a:ext cx="987552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3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83080" y="2944368"/>
            <a:ext cx="2377440" cy="256032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 algn="l"/>
            <a:r>
              <a:rPr sz="1500" b="1">
                <a:solidFill>
                  <a:srgbClr val="0D1B2A"/>
                </a:solidFill>
                <a:latin typeface="Aptos"/>
              </a:rPr>
              <a:t>Add data tests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69080" y="2944368"/>
            <a:ext cx="6812280" cy="320040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 algn="l"/>
            <a:r>
              <a:rPr sz="1300" b="0">
                <a:solidFill>
                  <a:srgbClr val="6F7E8D"/>
                </a:solidFill>
                <a:latin typeface="Aptos"/>
              </a:rPr>
              <a:t>Protect dimension keys and fact-to-dimension relationships.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3794760"/>
            <a:ext cx="640080" cy="320040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 algn="l"/>
            <a:r>
              <a:rPr sz="1400" b="1">
                <a:solidFill>
                  <a:srgbClr val="F18930"/>
                </a:solidFill>
                <a:latin typeface="Aptos"/>
              </a:rPr>
              <a:t>03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508760" y="3767328"/>
            <a:ext cx="987552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3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83080" y="3813048"/>
            <a:ext cx="2377440" cy="256032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 algn="l"/>
            <a:r>
              <a:rPr sz="1500" b="1">
                <a:solidFill>
                  <a:srgbClr val="0D1B2A"/>
                </a:solidFill>
                <a:latin typeface="Aptos"/>
              </a:rPr>
              <a:t>Build silver logic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69080" y="3813048"/>
            <a:ext cx="6812280" cy="320040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 algn="l"/>
            <a:r>
              <a:rPr sz="1300" b="0">
                <a:solidFill>
                  <a:srgbClr val="6F7E8D"/>
                </a:solidFill>
                <a:latin typeface="Aptos"/>
              </a:rPr>
              <a:t>Standardize names, types, dates, and business definitions.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4663440"/>
            <a:ext cx="640080" cy="320040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 algn="l"/>
            <a:r>
              <a:rPr sz="1400" b="1">
                <a:solidFill>
                  <a:srgbClr val="F18930"/>
                </a:solidFill>
                <a:latin typeface="Aptos"/>
              </a:rPr>
              <a:t>04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508760" y="4636007"/>
            <a:ext cx="987552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3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783080" y="4681727"/>
            <a:ext cx="2377440" cy="256032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 algn="l"/>
            <a:r>
              <a:rPr sz="1500" b="1">
                <a:solidFill>
                  <a:srgbClr val="0D1B2A"/>
                </a:solidFill>
                <a:latin typeface="Aptos"/>
              </a:rPr>
              <a:t>Publish gold marts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69080" y="4681727"/>
            <a:ext cx="6812280" cy="320040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 algn="l"/>
            <a:r>
              <a:rPr sz="1300" b="0">
                <a:solidFill>
                  <a:srgbClr val="6F7E8D"/>
                </a:solidFill>
                <a:latin typeface="Aptos"/>
              </a:rPr>
              <a:t>Create sales, returns, customer, and store performance models.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8" y="5806440"/>
            <a:ext cx="10561320" cy="45720"/>
          </a:xfrm>
          <a:prstGeom prst="rect">
            <a:avLst/>
          </a:prstGeom>
          <a:solidFill>
            <a:srgbClr val="1C9796"/>
          </a:solidFill>
          <a:ln>
            <a:solidFill>
              <a:srgbClr val="1C97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5989320"/>
            <a:ext cx="9601200" cy="292608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 algn="l"/>
            <a:r>
              <a:rPr sz="1600" b="1">
                <a:solidFill>
                  <a:srgbClr val="0D1B2A"/>
                </a:solidFill>
                <a:latin typeface="Aptos"/>
              </a:rPr>
              <a:t>Outcome: a documented, tested, dashboard-ready retail data platform.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" y="6510528"/>
            <a:ext cx="5943600" cy="164592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 algn="l"/>
            <a:r>
              <a:rPr sz="800" b="0">
                <a:solidFill>
                  <a:srgbClr val="6F7E8D"/>
                </a:solidFill>
                <a:latin typeface="Aptos"/>
              </a:rPr>
              <a:t>Thiru dbt project | sample presentation | editable PowerPoint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